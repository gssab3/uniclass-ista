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BM Plex Sans" charset="1" panose="020B0503050203000203"/>
      <p:regular r:id="rId23"/>
    </p:embeddedFont>
    <p:embeddedFont>
      <p:font typeface="IBM Plex Sans Bold" charset="1" panose="020B080305020300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google.com/spreadsheets/d/1DUF2isFWsqVSYhbaACYtbgcLi_YjDqpE3GLQIVgkKQg/edit#gid=69851113" TargetMode="External" Type="http://schemas.openxmlformats.org/officeDocument/2006/relationships/hyperlink"/><Relationship Id="rId11" Target="https://docs.google.com/spreadsheets/d/1DUF2isFWsqVSYhbaACYtbgcLi_YjDqpE3GLQIVgkKQg/edit#gid=69851113" TargetMode="External" Type="http://schemas.openxmlformats.org/officeDocument/2006/relationships/hyperlink"/><Relationship Id="rId12" Target="https://docs.google.com/spreadsheets/d/1DUF2isFWsqVSYhbaACYtbgcLi_YjDqpE3GLQIVgkKQg/edit#gid=69851113" TargetMode="External" Type="http://schemas.openxmlformats.org/officeDocument/2006/relationships/hyperlink"/><Relationship Id="rId13" Target="../media/image3.png" Type="http://schemas.openxmlformats.org/officeDocument/2006/relationships/image"/><Relationship Id="rId14" Target="../media/image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51761">
            <a:off x="10912533" y="-4157532"/>
            <a:ext cx="10454404" cy="7622211"/>
          </a:xfrm>
          <a:custGeom>
            <a:avLst/>
            <a:gdLst/>
            <a:ahLst/>
            <a:cxnLst/>
            <a:rect r="r" b="b" t="t" l="l"/>
            <a:pathLst>
              <a:path h="7622211" w="10454404">
                <a:moveTo>
                  <a:pt x="0" y="0"/>
                </a:moveTo>
                <a:lnTo>
                  <a:pt x="10454404" y="0"/>
                </a:lnTo>
                <a:lnTo>
                  <a:pt x="10454404" y="7622212"/>
                </a:lnTo>
                <a:lnTo>
                  <a:pt x="0" y="762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4939101" y="6712177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3"/>
                </a:lnTo>
                <a:lnTo>
                  <a:pt x="0" y="8328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75110" y="6597769"/>
            <a:ext cx="1213778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quick summary of what has been done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5110" y="3427320"/>
            <a:ext cx="12137780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Software Security Maintenance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19557" y="1085994"/>
            <a:ext cx="3226018" cy="514061"/>
            <a:chOff x="0" y="0"/>
            <a:chExt cx="4301358" cy="6854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F243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732784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Contest</a:t>
            </a: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92132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UniClass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251480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Problema </a:t>
            </a: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 UniClass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10828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Metodologie Adottate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529524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ASVS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288872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WSTG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70176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04810" y="6010828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Acceptance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4810" y="3732784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SDLC Adottato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04810" y="5251480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Stato Finale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4810" y="4492132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Stato Iniziale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04810" y="6770176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Lesson Learned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4810" y="7529524"/>
            <a:ext cx="5446590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 u="sng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Sviluppi Futuri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43072" y="1009609"/>
            <a:ext cx="601622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Indice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075598"/>
            <a:ext cx="3226018" cy="514061"/>
            <a:chOff x="0" y="0"/>
            <a:chExt cx="4301358" cy="68541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4899893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3133185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AutoShape 4" id="4"/>
          <p:cNvSpPr/>
          <p:nvPr/>
        </p:nvSpPr>
        <p:spPr>
          <a:xfrm rot="0">
            <a:off x="6629400" y="3133185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7318675" y="3779829"/>
            <a:ext cx="1082132" cy="108213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243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82824" y="3779829"/>
            <a:ext cx="1082132" cy="108213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24300"/>
            </a:solidFill>
          </p:spPr>
        </p:sp>
      </p:grpSp>
      <p:sp>
        <p:nvSpPr>
          <p:cNvPr name="AutoShape 9" id="9"/>
          <p:cNvSpPr/>
          <p:nvPr/>
        </p:nvSpPr>
        <p:spPr>
          <a:xfrm rot="0">
            <a:off x="12230100" y="3133185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2954526" y="3779829"/>
            <a:ext cx="1082132" cy="108213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243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3245906" y="4076738"/>
            <a:ext cx="459015" cy="488313"/>
          </a:xfrm>
          <a:custGeom>
            <a:avLst/>
            <a:gdLst/>
            <a:ahLst/>
            <a:cxnLst/>
            <a:rect r="r" b="b" t="t" l="l"/>
            <a:pathLst>
              <a:path h="488313" w="459015">
                <a:moveTo>
                  <a:pt x="0" y="0"/>
                </a:moveTo>
                <a:lnTo>
                  <a:pt x="459015" y="0"/>
                </a:lnTo>
                <a:lnTo>
                  <a:pt x="459015" y="488314"/>
                </a:lnTo>
                <a:lnTo>
                  <a:pt x="0" y="488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54895" y="3951900"/>
            <a:ext cx="737990" cy="737990"/>
          </a:xfrm>
          <a:custGeom>
            <a:avLst/>
            <a:gdLst/>
            <a:ahLst/>
            <a:cxnLst/>
            <a:rect r="r" b="b" t="t" l="l"/>
            <a:pathLst>
              <a:path h="737990" w="737990">
                <a:moveTo>
                  <a:pt x="0" y="0"/>
                </a:moveTo>
                <a:lnTo>
                  <a:pt x="737990" y="0"/>
                </a:lnTo>
                <a:lnTo>
                  <a:pt x="737990" y="737990"/>
                </a:lnTo>
                <a:lnTo>
                  <a:pt x="0" y="7379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39509" y="4030935"/>
            <a:ext cx="840463" cy="579920"/>
          </a:xfrm>
          <a:custGeom>
            <a:avLst/>
            <a:gdLst/>
            <a:ahLst/>
            <a:cxnLst/>
            <a:rect r="r" b="b" t="t" l="l"/>
            <a:pathLst>
              <a:path h="579920" w="840463">
                <a:moveTo>
                  <a:pt x="0" y="0"/>
                </a:moveTo>
                <a:lnTo>
                  <a:pt x="840463" y="0"/>
                </a:lnTo>
                <a:lnTo>
                  <a:pt x="840463" y="579920"/>
                </a:lnTo>
                <a:lnTo>
                  <a:pt x="0" y="579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82824" y="5704011"/>
            <a:ext cx="3707825" cy="1600355"/>
            <a:chOff x="0" y="0"/>
            <a:chExt cx="4943766" cy="213380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Maturità Operativa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55497"/>
              <a:ext cx="4943766" cy="107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10" tooltip="https://docs.google.com/spreadsheets/d/1DUF2isFWsqVSYhbaACYtbgcLi_YjDqpE3GLQIVgkKQg/edit#gid=69851113"/>
                </a:rPr>
                <a:t>Comprendere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 governance e definirla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629400" y="1009609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Contesto e Obiettivi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290088" y="5704011"/>
            <a:ext cx="3707825" cy="2009930"/>
            <a:chOff x="0" y="0"/>
            <a:chExt cx="4943766" cy="267990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Requisiti e Tracking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055497"/>
              <a:ext cx="4943766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11" tooltip="https://docs.google.com/spreadsheets/d/1DUF2isFWsqVSYhbaACYtbgcLi_YjDqpE3GLQIVgkKQg/edit#gid=69851113"/>
                </a:rPr>
                <a:t>Determinazione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dei requisiti e tracciamento dei difetti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84224" y="5704011"/>
            <a:ext cx="3707825" cy="2009930"/>
            <a:chOff x="0" y="0"/>
            <a:chExt cx="4943766" cy="267990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Monitoraggio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055497"/>
              <a:ext cx="4943766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12" tooltip="https://docs.google.com/spreadsheets/d/1DUF2isFWsqVSYhbaACYtbgcLi_YjDqpE3GLQIVgkKQg/edit#gid=69851113"/>
                </a:rPr>
                <a:t>Applicazione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 pipeline per monitoraggio attivo sul sistema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1947" y="1143247"/>
            <a:ext cx="3226018" cy="514061"/>
            <a:chOff x="0" y="0"/>
            <a:chExt cx="4301358" cy="68541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46009">
            <a:off x="-3777897" y="-3377064"/>
            <a:ext cx="9979854" cy="7584689"/>
          </a:xfrm>
          <a:custGeom>
            <a:avLst/>
            <a:gdLst/>
            <a:ahLst/>
            <a:cxnLst/>
            <a:rect r="r" b="b" t="t" l="l"/>
            <a:pathLst>
              <a:path h="7584689" w="9979854">
                <a:moveTo>
                  <a:pt x="0" y="0"/>
                </a:moveTo>
                <a:lnTo>
                  <a:pt x="9979853" y="0"/>
                </a:lnTo>
                <a:lnTo>
                  <a:pt x="9979853" y="7584689"/>
                </a:lnTo>
                <a:lnTo>
                  <a:pt x="0" y="75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0216241" y="965885"/>
            <a:ext cx="7043059" cy="5299746"/>
            <a:chOff x="0" y="0"/>
            <a:chExt cx="9390745" cy="706632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9" y="-28575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Definizione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9" y="1080184"/>
              <a:ext cx="9390736" cy="217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UniClass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è una Web Application creata nel 2024 per l’esame di Ingegneria del Software per aiutare utenza accademica e amministrativa nel migliorare la produttività e intercomunicazione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9" y="4333500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Funzionalità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" y="5441787"/>
              <a:ext cx="9390736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Gestione e Visione del Quadro Orario e Aule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Comunicazione tra utenti facilitata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Attivazione utenti per servizi di Ateneo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4" y="3803275"/>
              <a:ext cx="9390736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56973" y="4536392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0216245" y="6536309"/>
            <a:ext cx="7043052" cy="4762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16241" y="6783959"/>
            <a:ext cx="704305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800">
                <a:solidFill>
                  <a:srgbClr val="F243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Processi manutentivi precedenti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4474" y="7377175"/>
            <a:ext cx="7043052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Riduzione del Debito Tecnico</a:t>
            </a:r>
          </a:p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Miglioramento dell’Affidabilità del Sistema</a:t>
            </a:r>
          </a:p>
          <a:p>
            <a:pPr algn="l" marL="539751" indent="-269876" lvl="1">
              <a:lnSpc>
                <a:spcPts val="32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Sostenibilità Socio-Tecnica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028700"/>
            <a:ext cx="2318395" cy="2318386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3984307"/>
            <a:ext cx="2318395" cy="2318386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0" y="6939914"/>
            <a:ext cx="2318395" cy="2318386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rot="0">
            <a:off x="0" y="0"/>
            <a:ext cx="7962901" cy="10287000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028700" y="5245262"/>
            <a:ext cx="5590555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Problemi Generali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199158" y="1524196"/>
            <a:ext cx="5060142" cy="1327394"/>
            <a:chOff x="0" y="0"/>
            <a:chExt cx="6746856" cy="17698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2466"/>
              <a:ext cx="6746856" cy="90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73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 sinergia tra Java Enterprise Edition e JSP rende difficile la manutenibilità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28641"/>
              <a:ext cx="674685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Tecnologie Obsolete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99158" y="4294049"/>
            <a:ext cx="5060142" cy="1698902"/>
            <a:chOff x="0" y="0"/>
            <a:chExt cx="6746856" cy="226520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29188"/>
              <a:ext cx="6746856" cy="90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73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Dopo tutti questi processi manutentivi, l’aspetto sicuro rimane invariato e nullo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641"/>
              <a:ext cx="674685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Aspetto di Sicurezza Assente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99158" y="6921047"/>
            <a:ext cx="5060142" cy="2356119"/>
            <a:chOff x="0" y="0"/>
            <a:chExt cx="6746856" cy="314149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091077"/>
              <a:ext cx="6746856" cy="1821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73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Nonostante la totalità della reportistica presente per UniClass, non vi è una descrizione della Governance e Maturità operativa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28641"/>
              <a:ext cx="674685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Mancata Esperienza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3426645" y="8330981"/>
            <a:ext cx="9137288" cy="6661914"/>
          </a:xfrm>
          <a:custGeom>
            <a:avLst/>
            <a:gdLst/>
            <a:ahLst/>
            <a:cxnLst/>
            <a:rect r="r" b="b" t="t" l="l"/>
            <a:pathLst>
              <a:path h="6661914" w="9137288">
                <a:moveTo>
                  <a:pt x="0" y="0"/>
                </a:moveTo>
                <a:lnTo>
                  <a:pt x="9137288" y="0"/>
                </a:lnTo>
                <a:lnTo>
                  <a:pt x="9137288" y="6661914"/>
                </a:lnTo>
                <a:lnTo>
                  <a:pt x="0" y="6661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8745" y="2738129"/>
            <a:ext cx="6013427" cy="4810741"/>
          </a:xfrm>
          <a:custGeom>
            <a:avLst/>
            <a:gdLst/>
            <a:ahLst/>
            <a:cxnLst/>
            <a:rect r="r" b="b" t="t" l="l"/>
            <a:pathLst>
              <a:path h="4810741" w="6013427">
                <a:moveTo>
                  <a:pt x="0" y="0"/>
                </a:moveTo>
                <a:lnTo>
                  <a:pt x="6013427" y="0"/>
                </a:lnTo>
                <a:lnTo>
                  <a:pt x="6013427" y="4810742"/>
                </a:lnTo>
                <a:lnTo>
                  <a:pt x="0" y="481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9424" y="3674992"/>
            <a:ext cx="3374850" cy="2937017"/>
          </a:xfrm>
          <a:custGeom>
            <a:avLst/>
            <a:gdLst/>
            <a:ahLst/>
            <a:cxnLst/>
            <a:rect r="r" b="b" t="t" l="l"/>
            <a:pathLst>
              <a:path h="2937017" w="3374850">
                <a:moveTo>
                  <a:pt x="0" y="0"/>
                </a:moveTo>
                <a:lnTo>
                  <a:pt x="3374850" y="0"/>
                </a:lnTo>
                <a:lnTo>
                  <a:pt x="3374850" y="2937016"/>
                </a:lnTo>
                <a:lnTo>
                  <a:pt x="0" y="2937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06258" y="3674992"/>
            <a:ext cx="2752144" cy="2937017"/>
          </a:xfrm>
          <a:custGeom>
            <a:avLst/>
            <a:gdLst/>
            <a:ahLst/>
            <a:cxnLst/>
            <a:rect r="r" b="b" t="t" l="l"/>
            <a:pathLst>
              <a:path h="2937017" w="2752144">
                <a:moveTo>
                  <a:pt x="0" y="0"/>
                </a:moveTo>
                <a:lnTo>
                  <a:pt x="2752144" y="0"/>
                </a:lnTo>
                <a:lnTo>
                  <a:pt x="2752144" y="2937016"/>
                </a:lnTo>
                <a:lnTo>
                  <a:pt x="0" y="2937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58" t="0" r="-335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43491" y="1009609"/>
            <a:ext cx="1081580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Metodologie</a:t>
            </a:r>
            <a:r>
              <a:rPr lang="en-US" sz="8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Adottate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1999" y="1657309"/>
            <a:ext cx="3226018" cy="514061"/>
            <a:chOff x="0" y="0"/>
            <a:chExt cx="4301358" cy="6854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"/>
            <a:ext cx="18288000" cy="9258300"/>
          </a:xfrm>
          <a:custGeom>
            <a:avLst/>
            <a:gdLst/>
            <a:ahLst/>
            <a:cxnLst/>
            <a:rect r="r" b="b" t="t" l="l"/>
            <a:pathLst>
              <a:path h="9258300" w="182880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8" t="0" r="-10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9778" y="3949611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0" y="0"/>
                </a:lnTo>
                <a:lnTo>
                  <a:pt x="1239690" y="650838"/>
                </a:lnTo>
                <a:lnTo>
                  <a:pt x="0" y="65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740" y="3949611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1" y="0"/>
                </a:lnTo>
                <a:lnTo>
                  <a:pt x="1239691" y="650838"/>
                </a:lnTo>
                <a:lnTo>
                  <a:pt x="0" y="65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1139" y="8161019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1" y="0"/>
                </a:lnTo>
                <a:lnTo>
                  <a:pt x="1239691" y="650838"/>
                </a:lnTo>
                <a:lnTo>
                  <a:pt x="0" y="65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89640" y="8161019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0" y="0"/>
                </a:lnTo>
                <a:lnTo>
                  <a:pt x="1239690" y="650838"/>
                </a:lnTo>
                <a:lnTo>
                  <a:pt x="0" y="650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89640" y="7120505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0" y="0"/>
                </a:lnTo>
                <a:lnTo>
                  <a:pt x="1239690" y="650837"/>
                </a:lnTo>
                <a:lnTo>
                  <a:pt x="0" y="650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61139" y="2240400"/>
            <a:ext cx="1239690" cy="650837"/>
          </a:xfrm>
          <a:custGeom>
            <a:avLst/>
            <a:gdLst/>
            <a:ahLst/>
            <a:cxnLst/>
            <a:rect r="r" b="b" t="t" l="l"/>
            <a:pathLst>
              <a:path h="650837" w="1239690">
                <a:moveTo>
                  <a:pt x="0" y="0"/>
                </a:moveTo>
                <a:lnTo>
                  <a:pt x="1239691" y="0"/>
                </a:lnTo>
                <a:lnTo>
                  <a:pt x="1239691" y="650837"/>
                </a:lnTo>
                <a:lnTo>
                  <a:pt x="0" y="650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854" y="3612810"/>
            <a:ext cx="16726293" cy="4808809"/>
          </a:xfrm>
          <a:custGeom>
            <a:avLst/>
            <a:gdLst/>
            <a:ahLst/>
            <a:cxnLst/>
            <a:rect r="r" b="b" t="t" l="l"/>
            <a:pathLst>
              <a:path h="4808809" w="16726293">
                <a:moveTo>
                  <a:pt x="0" y="0"/>
                </a:moveTo>
                <a:lnTo>
                  <a:pt x="16726292" y="0"/>
                </a:lnTo>
                <a:lnTo>
                  <a:pt x="16726292" y="4808809"/>
                </a:lnTo>
                <a:lnTo>
                  <a:pt x="0" y="4808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15592" y="1127332"/>
            <a:ext cx="10543708" cy="213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59"/>
              </a:lnSpc>
              <a:spcBef>
                <a:spcPct val="0"/>
              </a:spcBef>
            </a:pPr>
            <a:r>
              <a:rPr lang="en-US" b="true" sz="7049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SAMM</a:t>
            </a:r>
            <a:r>
              <a:rPr lang="en-US" sz="70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- Software Assurance Maturity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7940" y="4236899"/>
            <a:ext cx="2318395" cy="2318386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84802" y="4236899"/>
            <a:ext cx="2318395" cy="2318386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41798" y="4236899"/>
            <a:ext cx="2318395" cy="2318386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3272" y="1127332"/>
            <a:ext cx="8116028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18"/>
              </a:lnSpc>
            </a:pPr>
            <a:r>
              <a:rPr lang="en-US" sz="5098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ASVS</a:t>
            </a:r>
            <a:r>
              <a:rPr lang="en-US" sz="509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- Application Security Verification Standard</a:t>
            </a:r>
          </a:p>
          <a:p>
            <a:pPr algn="r" marL="0" indent="0" lvl="0">
              <a:lnSpc>
                <a:spcPts val="611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96582" y="6679959"/>
            <a:ext cx="3181112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Baseline essenziale di Sicurezza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3444" y="6679959"/>
            <a:ext cx="3181112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Trattamento Avanzato di dati sensibili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10440" y="6679959"/>
            <a:ext cx="3181112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Sicurezza nelle Applicazioni Critiche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582" y="1127332"/>
            <a:ext cx="3226018" cy="514061"/>
            <a:chOff x="0" y="0"/>
            <a:chExt cx="4301358" cy="6854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46009">
            <a:off x="10428631" y="-3516495"/>
            <a:ext cx="9979854" cy="7584689"/>
          </a:xfrm>
          <a:custGeom>
            <a:avLst/>
            <a:gdLst/>
            <a:ahLst/>
            <a:cxnLst/>
            <a:rect r="r" b="b" t="t" l="l"/>
            <a:pathLst>
              <a:path h="7584689" w="9979854">
                <a:moveTo>
                  <a:pt x="0" y="0"/>
                </a:moveTo>
                <a:lnTo>
                  <a:pt x="9979854" y="0"/>
                </a:lnTo>
                <a:lnTo>
                  <a:pt x="9979854" y="7584689"/>
                </a:lnTo>
                <a:lnTo>
                  <a:pt x="0" y="75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26424" y="0"/>
            <a:ext cx="9144000" cy="10287000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4039850" y="6350395"/>
            <a:ext cx="6438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WSTG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4046" y="2128710"/>
            <a:ext cx="7043059" cy="6336235"/>
            <a:chOff x="0" y="0"/>
            <a:chExt cx="9390745" cy="84483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" y="-28575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Definizione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" y="1080184"/>
              <a:ext cx="9390736" cy="271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La </a:t>
              </a:r>
              <a:r>
                <a:rPr lang="en-US" sz="25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Web Security Testing Guide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è una guida esplicativa per l’esecuzione di test e security assurance, etichettando le diverse categorie per dominio d’applicazione e tipologia di vulnerabilità riscontrabile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" y="5715211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Casi d’uso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" y="6823970"/>
              <a:ext cx="9390736" cy="162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Software Security Assurance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4" tooltip="https://docs.google.com/spreadsheets/d/1DUF2isFWsqVSYhbaACYtbgcLi_YjDqpE3GLQIVgkKQg/edit#gid=69851113"/>
                </a:rPr>
                <a:t>Acceptance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Testing</a:t>
              </a:r>
            </a:p>
            <a:p>
              <a:pPr algn="l" marL="539751" indent="-269876" lvl="1">
                <a:lnSpc>
                  <a:spcPts val="3250"/>
                </a:lnSpc>
                <a:buFont typeface="Arial"/>
                <a:buChar char="•"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5" tooltip="https://docs.google.com/spreadsheets/d/1DUF2isFWsqVSYhbaACYtbgcLi_YjDqpE3GLQIVgkKQg/edit#gid=69851113"/>
                </a:rPr>
                <a:t>Gap </a:t>
              </a: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Analysis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4" y="4761927"/>
              <a:ext cx="9390736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144000" cy="10287000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28703" y="1935678"/>
            <a:ext cx="5712353" cy="3334923"/>
            <a:chOff x="0" y="0"/>
            <a:chExt cx="7616470" cy="444656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7616463" cy="47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2"/>
                </a:lnSpc>
              </a:pPr>
              <a:r>
                <a:rPr lang="en-US" b="true" sz="227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Prima Fase - Inizializzazione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22818"/>
              <a:ext cx="7616463" cy="1323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5"/>
                </a:lnSpc>
              </a:pPr>
              <a:r>
                <a:rPr lang="en-US" sz="2027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Stesura della CR/RFP, SAMM e ASVS necessari per la modifica e aggiunta dei requisiti all’interno del Requirements Analysis Document (RAD)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" y="2481411"/>
              <a:ext cx="7616463" cy="47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52"/>
                </a:lnSpc>
              </a:pPr>
              <a:r>
                <a:rPr lang="en-US" b="true" sz="227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Seconda Fase - Controllo Stato Iniziale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123563"/>
              <a:ext cx="7616463" cy="1323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5"/>
                </a:lnSpc>
              </a:pPr>
              <a:r>
                <a:rPr lang="en-US" sz="2027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Attraverso euristica, code review ibrida, generazione di test automatizzati e WSTG, è stato visionato lo stato di sicurezza iniziale 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3" y="2222348"/>
              <a:ext cx="7616463" cy="5150"/>
            </a:xfrm>
            <a:prstGeom prst="line">
              <a:avLst/>
            </a:prstGeom>
            <a:ln cap="flat" w="103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107615" y="0"/>
            <a:ext cx="9180385" cy="10287000"/>
          </a:xfrm>
          <a:custGeom>
            <a:avLst/>
            <a:gdLst/>
            <a:ahLst/>
            <a:cxnLst/>
            <a:rect r="r" b="b" t="t" l="l"/>
            <a:pathLst>
              <a:path h="10287000" w="9180385">
                <a:moveTo>
                  <a:pt x="0" y="0"/>
                </a:moveTo>
                <a:lnTo>
                  <a:pt x="9180385" y="0"/>
                </a:lnTo>
                <a:lnTo>
                  <a:pt x="91803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8697" y="5451080"/>
            <a:ext cx="5712347" cy="386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612105"/>
            <a:ext cx="5712347" cy="36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b="true" sz="2270">
                <a:solidFill>
                  <a:srgbClr val="F243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Terza Fase - Implementazione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213" y="6054841"/>
            <a:ext cx="5712347" cy="199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02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ogni requisito non soddisfatto, si effettua una code review (mirata o generale) ed eventuale WSTG categorizzata, descrivendo la vulnerabilità nel Defect Management Tracker Log (DM-DTL) per poi arrivare alla risoluzione attraverso esperienza e Cheat Sheet di OWASP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213" y="8146058"/>
            <a:ext cx="5712347" cy="36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b="true" sz="2270">
                <a:solidFill>
                  <a:srgbClr val="F243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Quarta Fase - Controllo Finale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213" y="8592809"/>
            <a:ext cx="5712347" cy="13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02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Dopo l’implementazione, si visionano i requisiti finalmente soddisfatti, Risk Acceptance, eventuali sviluppi futuri, Lesson Learned, differenze tra stato iniziale e finale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3213" y="1028700"/>
            <a:ext cx="3226018" cy="514061"/>
            <a:chOff x="0" y="0"/>
            <a:chExt cx="4301358" cy="685415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402777" y="3371850"/>
          <a:ext cx="9856523" cy="5886450"/>
        </p:xfrm>
        <a:graphic>
          <a:graphicData uri="http://schemas.openxmlformats.org/drawingml/2006/table">
            <a:tbl>
              <a:tblPr/>
              <a:tblGrid>
                <a:gridCol w="3285508"/>
                <a:gridCol w="3285508"/>
                <a:gridCol w="3285508"/>
              </a:tblGrid>
              <a:tr h="1202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Percentuale di Soddisfacimento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078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NFR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4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/12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2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ASVS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26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/66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Diversi sono N/A poichè distanti dallo 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2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SonarQube Security Rating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2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SonarQube Security Hotspots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247935" y="2349491"/>
            <a:ext cx="5768275" cy="3605172"/>
          </a:xfrm>
          <a:custGeom>
            <a:avLst/>
            <a:gdLst/>
            <a:ahLst/>
            <a:cxnLst/>
            <a:rect r="r" b="b" t="t" l="l"/>
            <a:pathLst>
              <a:path h="3605172" w="5768275">
                <a:moveTo>
                  <a:pt x="0" y="0"/>
                </a:moveTo>
                <a:lnTo>
                  <a:pt x="5768275" y="0"/>
                </a:lnTo>
                <a:lnTo>
                  <a:pt x="5768275" y="3605172"/>
                </a:lnTo>
                <a:lnTo>
                  <a:pt x="0" y="36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67500"/>
            <a:ext cx="5116777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Stato Iniziale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402777" y="3371850"/>
          <a:ext cx="9856523" cy="6257925"/>
        </p:xfrm>
        <a:graphic>
          <a:graphicData uri="http://schemas.openxmlformats.org/drawingml/2006/table">
            <a:tbl>
              <a:tblPr/>
              <a:tblGrid>
                <a:gridCol w="3285508"/>
                <a:gridCol w="3285508"/>
                <a:gridCol w="3285508"/>
              </a:tblGrid>
              <a:tr h="12019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Percentuale di Soddisfacimento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10779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NFR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11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/12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4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ASVS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40/66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19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sono N/A dei 26 rimanenti, quindi solo </a:t>
                      </a: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7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falliti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19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SonarQube Security Rating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19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SonarQube Security Hotspots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247935" y="2349491"/>
            <a:ext cx="5768275" cy="3605172"/>
          </a:xfrm>
          <a:custGeom>
            <a:avLst/>
            <a:gdLst/>
            <a:ahLst/>
            <a:cxnLst/>
            <a:rect r="r" b="b" t="t" l="l"/>
            <a:pathLst>
              <a:path h="3605172" w="5768275">
                <a:moveTo>
                  <a:pt x="0" y="0"/>
                </a:moveTo>
                <a:lnTo>
                  <a:pt x="5768275" y="0"/>
                </a:lnTo>
                <a:lnTo>
                  <a:pt x="5768275" y="3605172"/>
                </a:lnTo>
                <a:lnTo>
                  <a:pt x="0" y="36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67500"/>
            <a:ext cx="5116777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Stato Finale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46009">
            <a:off x="-3777897" y="-3377064"/>
            <a:ext cx="9979854" cy="7584689"/>
          </a:xfrm>
          <a:custGeom>
            <a:avLst/>
            <a:gdLst/>
            <a:ahLst/>
            <a:cxnLst/>
            <a:rect r="r" b="b" t="t" l="l"/>
            <a:pathLst>
              <a:path h="7584689" w="9979854">
                <a:moveTo>
                  <a:pt x="0" y="0"/>
                </a:moveTo>
                <a:lnTo>
                  <a:pt x="9979853" y="0"/>
                </a:lnTo>
                <a:lnTo>
                  <a:pt x="9979853" y="7584689"/>
                </a:lnTo>
                <a:lnTo>
                  <a:pt x="0" y="75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667500"/>
            <a:ext cx="643890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Risk Acceptance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0216245" y="1028750"/>
            <a:ext cx="7043059" cy="7564960"/>
            <a:chOff x="0" y="0"/>
            <a:chExt cx="9390745" cy="100866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" y="-28575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HTTP / HTTPS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" y="1080184"/>
              <a:ext cx="9390736" cy="271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Essendo un Toy Project, il vero focus del processo di manutenzione è l’analisi della Governance, Maturità e risoluzione operativa, amministrativa e tecnica delle vulnerabilità presenti nella codebase, non https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" y="5715211"/>
              <a:ext cx="939073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F243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Password Management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" y="6823970"/>
              <a:ext cx="9390736" cy="3262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Date le funzionalità, scenari e casi d’uso presenti all’interno del Requirements Analysis Document, la password deve essere composta secondo i criteri originariamente imposti. Si accettano rischi derivanti dalla scelta effettuata e si escludono requisiti al di fuori di questo scope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4" y="4761927"/>
              <a:ext cx="9390736" cy="635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12029" y="1028750"/>
            <a:ext cx="3226018" cy="514061"/>
            <a:chOff x="0" y="0"/>
            <a:chExt cx="4301358" cy="68541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95818" y="3287954"/>
            <a:ext cx="11384238" cy="9252281"/>
          </a:xfrm>
          <a:custGeom>
            <a:avLst/>
            <a:gdLst/>
            <a:ahLst/>
            <a:cxnLst/>
            <a:rect r="r" b="b" t="t" l="l"/>
            <a:pathLst>
              <a:path h="9252281" w="11384238">
                <a:moveTo>
                  <a:pt x="0" y="0"/>
                </a:moveTo>
                <a:lnTo>
                  <a:pt x="11384238" y="0"/>
                </a:lnTo>
                <a:lnTo>
                  <a:pt x="11384238" y="9252280"/>
                </a:lnTo>
                <a:lnTo>
                  <a:pt x="0" y="925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2547277"/>
          <a:ext cx="16230600" cy="7077732"/>
        </p:xfrm>
        <a:graphic>
          <a:graphicData uri="http://schemas.openxmlformats.org/drawingml/2006/table">
            <a:tbl>
              <a:tblPr/>
              <a:tblGrid>
                <a:gridCol w="3246120"/>
                <a:gridCol w="3246120"/>
                <a:gridCol w="3246120"/>
                <a:gridCol w="3246120"/>
                <a:gridCol w="3246120"/>
              </a:tblGrid>
              <a:tr h="10923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Obiettivi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Miglioramento della RFP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Ampliamento dell’SDLC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Threat Modeling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Meeting Agenda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0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Azioni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necessarie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Oltre alla mail e le modifiche richieste nel RAD, sarebbe necessario anche un RFP con eventuali stime e tempistiche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L’SDLC attuale si basa su pochi progetti OWASP rispetto alle fasi richieste vere e proprie per un processo manutentivo sicuro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Il Defect Management è stato abbastanza per via delle necessità e della gestione standardizzata delle vulnerabilità ma sarebbe più ottimale avere una sezione all’interno del System Design Document per la visione di vulnerabilità di sicurezza e DFD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Il Rationale di ogni SDR non va descritta attraverso delle note di un Report Finale. Sarebbe più utile avere degli SDR e Meeting Agenda correlati per la discussione di ogni vulnerabilità o requisito preso in considerazione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74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Indicatori chiave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di prestazione (KPI)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CFP, FP, Risorse temporali, economiche, tecnologiche richieste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Corrispondenza tra l’SDLC adottato e SDLC del Waypoint (in base allo scope proposto)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611749" y="960462"/>
            <a:ext cx="106475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Lesson Learned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76890">
            <a:off x="-4899893" y="6122938"/>
            <a:ext cx="11422613" cy="8328123"/>
          </a:xfrm>
          <a:custGeom>
            <a:avLst/>
            <a:gdLst/>
            <a:ahLst/>
            <a:cxnLst/>
            <a:rect r="r" b="b" t="t" l="l"/>
            <a:pathLst>
              <a:path h="8328123" w="11422613">
                <a:moveTo>
                  <a:pt x="0" y="0"/>
                </a:moveTo>
                <a:lnTo>
                  <a:pt x="11422613" y="0"/>
                </a:lnTo>
                <a:lnTo>
                  <a:pt x="11422613" y="8328124"/>
                </a:lnTo>
                <a:lnTo>
                  <a:pt x="0" y="832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3133185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sp>
        <p:nvSpPr>
          <p:cNvPr name="AutoShape 4" id="4"/>
          <p:cNvSpPr/>
          <p:nvPr/>
        </p:nvSpPr>
        <p:spPr>
          <a:xfrm rot="0">
            <a:off x="12230100" y="3133185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330900" y="3543145"/>
            <a:ext cx="3707825" cy="4467380"/>
            <a:chOff x="0" y="0"/>
            <a:chExt cx="4943766" cy="595650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Threat Modeling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55497"/>
              <a:ext cx="4943766" cy="4901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Miglioramento del System Design Document con linee guida per la visione sicura del software preso in considerazione, determinando all’interno dei DFD canali compromessi e servizi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29400" y="1009609"/>
            <a:ext cx="106299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Sviluppi Futuri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6629400" y="3129508"/>
            <a:ext cx="5029200" cy="4881017"/>
          </a:xfrm>
          <a:prstGeom prst="rect">
            <a:avLst/>
          </a:prstGeom>
          <a:solidFill>
            <a:srgbClr val="F4F4F4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7107562" y="3543145"/>
            <a:ext cx="3707825" cy="4467380"/>
            <a:chOff x="0" y="0"/>
            <a:chExt cx="4943766" cy="595650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SDLC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55497"/>
              <a:ext cx="4943766" cy="4901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Miglioramento dell’SDLC attraverso una visione che non si ferma davanti all’esperienza e la conoscenza di determinati e specifici standard ad-hoc, bensì ad una visione totale del processo con Waypoint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06350" y="3546823"/>
            <a:ext cx="3707825" cy="4057805"/>
            <a:chOff x="0" y="0"/>
            <a:chExt cx="4943766" cy="541040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4943766" cy="590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Self Healing System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055497"/>
              <a:ext cx="4943766" cy="4355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Aggiunta di un servizio AI-based o Rule-Based per il miglioramento in tempo reale della codebase, infrastruttura o architettura software in caso di guasti o attacchi informatici locali o remoti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1143247"/>
            <a:ext cx="3226018" cy="514061"/>
            <a:chOff x="0" y="0"/>
            <a:chExt cx="4301358" cy="68541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0451">
            <a:off x="-3704475" y="5082768"/>
            <a:ext cx="8954562" cy="6805467"/>
          </a:xfrm>
          <a:custGeom>
            <a:avLst/>
            <a:gdLst/>
            <a:ahLst/>
            <a:cxnLst/>
            <a:rect r="r" b="b" t="t" l="l"/>
            <a:pathLst>
              <a:path h="6805467" w="8954562">
                <a:moveTo>
                  <a:pt x="0" y="0"/>
                </a:moveTo>
                <a:lnTo>
                  <a:pt x="8954562" y="0"/>
                </a:lnTo>
                <a:lnTo>
                  <a:pt x="8954562" y="6805467"/>
                </a:lnTo>
                <a:lnTo>
                  <a:pt x="0" y="6805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60451">
            <a:off x="13426426" y="4415518"/>
            <a:ext cx="8954562" cy="6805467"/>
          </a:xfrm>
          <a:custGeom>
            <a:avLst/>
            <a:gdLst/>
            <a:ahLst/>
            <a:cxnLst/>
            <a:rect r="r" b="b" t="t" l="l"/>
            <a:pathLst>
              <a:path h="6805467" w="8954562">
                <a:moveTo>
                  <a:pt x="8954562" y="0"/>
                </a:moveTo>
                <a:lnTo>
                  <a:pt x="0" y="0"/>
                </a:lnTo>
                <a:lnTo>
                  <a:pt x="0" y="6805467"/>
                </a:lnTo>
                <a:lnTo>
                  <a:pt x="8954562" y="6805467"/>
                </a:lnTo>
                <a:lnTo>
                  <a:pt x="89545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75873" y="3848100"/>
            <a:ext cx="7736255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GRAZIE PER L’ATTENZIONE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3226018" cy="514061"/>
            <a:chOff x="0" y="0"/>
            <a:chExt cx="4301358" cy="6854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714986" y="123633"/>
              <a:ext cx="3586372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Giuseppe Sabetta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840" cy="685415"/>
            </a:xfrm>
            <a:custGeom>
              <a:avLst/>
              <a:gdLst/>
              <a:ahLst/>
              <a:cxnLst/>
              <a:rect r="r" b="b" t="t" l="l"/>
              <a:pathLst>
                <a:path h="685415" w="545840">
                  <a:moveTo>
                    <a:pt x="0" y="0"/>
                  </a:moveTo>
                  <a:lnTo>
                    <a:pt x="545840" y="0"/>
                  </a:lnTo>
                  <a:lnTo>
                    <a:pt x="545840" y="685415"/>
                  </a:lnTo>
                  <a:lnTo>
                    <a:pt x="0" y="68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DAHWeP5O0eI</dc:identifier>
  <dcterms:modified xsi:type="dcterms:W3CDTF">2011-08-01T06:04:30Z</dcterms:modified>
  <cp:revision>1</cp:revision>
  <dc:title>Software Security Maintenance</dc:title>
</cp:coreProperties>
</file>